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jpeg" ContentType="image/jpeg"/>
  <Override PartName="/ppt/media/image3.png" ContentType="image/png"/>
  <Override PartName="/ppt/media/image4.png" ContentType="image/png"/>
  <Override PartName="/ppt/media/image5.gif" ContentType="image/gif"/>
  <Override PartName="/ppt/media/image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9354BC-7DA9-4F72-A9B3-D947426EAC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E529F3-2690-4C21-BEEA-123E282CFE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0248C1-82BC-4AF3-9500-4C6BDBD573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64FC25-59EC-4196-B641-53F6B75C91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BFC97E-49B9-4C4A-804B-4842DD02F0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29560" y="88236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E0B9B8-D040-4997-8EE9-3EA5730C36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01032E-90C5-4561-A3C9-9B1093C456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7788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93861F-4C93-4910-8E25-6B7B699ABA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B812C3-51CA-4D57-8FB4-74D667E3D8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29560" y="3594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4805A5-A3E5-4CFC-8EB6-E522967481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7788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0DE256-A599-4FCF-B5DD-27643915DC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9676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6360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2956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9676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6360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6FF7C8-4369-4EC5-8ACB-FB33987C36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3A3B90-9CFC-4620-8AA2-846E4EE72B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FD8963-4163-40FC-A8BE-3CB6E7FA84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E99377-47CF-4294-8CE5-31D74F87B0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4D001F-915A-436D-BCB9-758B95590F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9EC22D-9544-4EDD-9CF9-82D383A4C9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29560" y="88236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48DEF4-F0AE-4D13-AAA7-6471499FA2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549342-A63A-47B1-9ADC-1FE3E0BAC6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788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2784D82-5B62-4E37-B489-75CA3B9E8B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F6D771-6C1F-4354-B08C-5A2D98BD99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29560" y="3594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C79E40-5B02-4DB8-9C0F-03F4200784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77880" y="187704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2956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77880" y="3594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C109CE-1FB4-4D1F-AC39-D0CC7B993D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9676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63600" y="187704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2956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9676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63600" y="3594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922F06-DACE-49C9-B800-16FE5B4494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5B0206-3C5F-4C69-B226-B90CAE2E249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F989FA-146C-46B9-8786-09E40C9CE85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BiAPoL/PoL-BioImage-Analysis-TS-GPU-Accelerated-Image-Analysis" TargetMode="External"/><Relationship Id="rId2" Type="http://schemas.openxmlformats.org/officeDocument/2006/relationships/hyperlink" Target="https://github.com/BiAPoL/PoL-BioImage-Analysis-TS-GPU-Accelerated-Image-Analysis" TargetMode="External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1027440"/>
            <a:ext cx="9071280" cy="102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Using and teaching GPU Accelerated Image Analysis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529560" y="19695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latin typeface="Arial"/>
              </a:rPr>
              <a:t>Technologies used and lessons learned at the 2023 PoL (Physics of Life) BioImage Analysis GPU Image Analysis course.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PoL BioImage Analysis Symposium 2023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Dresden Aug 28th - Sep 1st 2023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2.5 day training school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latin typeface="Arial"/>
              </a:rPr>
              <a:t>Early Career track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latin typeface="Arial"/>
              </a:rPr>
              <a:t>GPU Track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Followed by 2.5 day symposium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Accelerated Track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Repository is 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Arial"/>
                <a:hlinkClick r:id="rId1"/>
              </a:rPr>
              <a:t>here</a:t>
            </a:r>
            <a:r>
              <a:rPr b="0" lang="en-US" sz="2400" spc="-1" strike="noStrike">
                <a:latin typeface="Arial"/>
              </a:rPr>
              <a:t> 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https://github.com/BiAPoL/PoL-BioImage-Analysis-TS-GPU-Accelerated-Image-Analysis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Jupyter Book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Accelerated Track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Software installation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Clesperanto (OpenCl bio-imaging)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Cupy (Cuda math and signal processing)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Deconvolution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Accelerated Track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High Performance Computing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Deep Learning 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latin typeface="Arial"/>
              </a:rPr>
              <a:t>Pytorch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latin typeface="Arial"/>
              </a:rPr>
              <a:t>AI Segmentation, Denoising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Dask (chunk based distributed processing)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latin typeface="Arial"/>
              </a:rPr>
              <a:t>Background Needed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Python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Github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Jupyter notebooks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Conda environments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Course preparation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Instructors teamed up with partner from Technische Universität Dresden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Partner helps review and test material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Instructors encouraged to test using Dresden HPC infrastructure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Students given setup instructions week before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Clesperanto/CLIJ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CLIJ OpenCL for ImageJ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Clesperanto (prototype)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Python/Matlab wrappers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Clesperanto (c++ version)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Pure c++ version that can be wrapped for Python/Java/etc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Clesperanto/CLIJ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OpenCL based so works on Macs/AMD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(Mac M1 does not support Cuda)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Biology/Microscopy focused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228600" y="10551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Clesperanto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067920" y="45360"/>
            <a:ext cx="653292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Cupy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Cuda based GPU-accelerated image and data processing in Python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Dropin replacement for numpy and scipy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API of Cupy is "close" to numpy and scipy so dropin strategy can potentially be used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Cupy ‘Dropin’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1143000" y="2286000"/>
            <a:ext cx="7971840" cy="218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Deconvolution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GPU greatly accelerates deconvolution calculations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Reviewed CLIJ2, Redlionfish libraries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Looked at several simulations and real images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Showed how deconvolution leads to better measurements.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Deconvolution and Deep learning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Important to understand deconvolution before doing 3D Deep learning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29560" y="2286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Deconvolution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262600" y="1877040"/>
            <a:ext cx="5604840" cy="328788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300960" y="1055160"/>
            <a:ext cx="9071280" cy="32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With GPU feasible to do 1000s of iterations to get dramatic deblurring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GPU Deconvolution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Parameter exploration much faster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143440" y="685800"/>
            <a:ext cx="6314400" cy="159012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2143440" y="2295720"/>
            <a:ext cx="6314400" cy="159012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2143440" y="3886200"/>
            <a:ext cx="6314400" cy="145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High Performance Computing (HPC)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HPC Machine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Collection of computer nodes (CPUs and/or GPUs)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Dresden ZIH high performance cluster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Learned how to use cluster via</a:t>
            </a:r>
            <a:r>
              <a:rPr b="0" lang="en-US" sz="2400" spc="-1" strike="noStrike">
                <a:latin typeface="Arial"/>
              </a:rPr>
              <a:t>	</a:t>
            </a:r>
            <a:r>
              <a:rPr b="0" lang="en-US" sz="2400" spc="-1" strike="noStrike">
                <a:latin typeface="Arial"/>
              </a:rPr>
              <a:t> 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Jupyter notebooks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Command line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All examples used in course could be run on cluster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Cons: Some connection issues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High Performance Computing (HPC)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Course material was very specific to Dresden infrastructure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Con: Non-Dresden students did not have long term buy in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Pro: Good overview of ‘what question to ask’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29560" y="4251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How do people access GPU?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837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9000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Most powerful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HPC Cluster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Good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Cloud VMs (AWS etc.)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Professional Workstation (ie Dell Precision)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Multi-GPU Gaming PC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Acceptable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Laptop with modern GPU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Not as good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Older laptop with no/limited GPU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00960" y="4251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Deep Learning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3200400" y="1371600"/>
            <a:ext cx="3485880" cy="3287880"/>
          </a:xfrm>
          <a:prstGeom prst="rect">
            <a:avLst/>
          </a:prstGeom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1600200" y="4884120"/>
            <a:ext cx="61718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UNET architecture: Figure courtesy of Peter Steinbach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Deep learning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Pytorch Overview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Segmantic Segmentation with Pytorch unet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Denoising with noise2void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Deep Learning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Could also consider CSB-Deep 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CARE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Stardist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CARE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2819520" y="360"/>
            <a:ext cx="586692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CARE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2819520" y="38880"/>
            <a:ext cx="586692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Deep Learning with GPU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29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GPU needed to make DL training feasible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For 2D ‘decent’ gaming GPU OK</a:t>
            </a:r>
            <a:endParaRPr b="0" lang="en-US" sz="2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For 3D SOTF GPU (IE RTX 4090) needed</a:t>
            </a:r>
            <a:endParaRPr b="0" lang="en-US" sz="2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HPC cluster 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latin typeface="Arial"/>
              </a:rPr>
              <a:t>Needed for large training set sizes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29560" y="8823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latin typeface="Arial"/>
              </a:rPr>
              <a:t>Dask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21560" y="187704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 </a:t>
            </a:r>
            <a:r>
              <a:rPr b="0" lang="en-US" sz="2400" spc="-1" strike="noStrike">
                <a:latin typeface="Arial"/>
              </a:rPr>
              <a:t>an open-source Python library for parallel computing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Image processing extension that makes it easy to process large images in blocks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2023-10-14T07:31:30Z</dcterms:created>
  <dc:creator/>
  <dc:description/>
  <dc:language>en-US</dc:language>
  <cp:lastModifiedBy/>
  <dcterms:modified xsi:type="dcterms:W3CDTF">2023-10-17T06:25:33Z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